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314" r:id="rId5"/>
    <p:sldId id="315" r:id="rId6"/>
    <p:sldId id="318" r:id="rId7"/>
    <p:sldId id="320" r:id="rId8"/>
    <p:sldId id="326" r:id="rId9"/>
    <p:sldId id="321" r:id="rId10"/>
    <p:sldId id="324" r:id="rId11"/>
    <p:sldId id="327" r:id="rId12"/>
    <p:sldId id="323" r:id="rId13"/>
    <p:sldId id="328" r:id="rId14"/>
    <p:sldId id="329" r:id="rId15"/>
    <p:sldId id="330" r:id="rId16"/>
    <p:sldId id="331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88" autoAdjust="0"/>
  </p:normalViewPr>
  <p:slideViewPr>
    <p:cSldViewPr snapToGrid="0">
      <p:cViewPr varScale="1">
        <p:scale>
          <a:sx n="143" d="100"/>
          <a:sy n="143" d="100"/>
        </p:scale>
        <p:origin x="906" y="34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4A19-62EF-B409-C376-9D46C00B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D8117-7ED4-9DBB-9115-78DBD9E4E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63A04-0BB6-D64E-899E-54397A27D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9D680-0CD0-3E94-9207-D33112BBE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A4DC-3161-E1FF-DE4B-6EF12FAA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C16F6-9788-A3DD-FB3E-FE4C5542D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9BEB9-18D2-EF42-A7C7-F5CB19F7E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09528-5CDF-B55E-6CC9-863F6497B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40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E103-1022-A698-93B6-9EE95741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DDE9A-14FF-9EFB-A88B-C86A523E0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1090-CC44-0FF4-180C-1E53D211E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4CACC-A624-BA29-5ECB-6057F8DA6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54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8365-ABB4-E9F0-587E-27223829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5AEA2-872C-7429-56DF-71AD91A0F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B15EB-0BF2-CA93-5D47-E0249743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D855D-B7CF-85E1-1AD1-D8BDF3015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232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08D4-4FBC-D654-AF98-FBC400DD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24413-D847-2BFA-FB82-FD1AE26B0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2CEF1-CE0A-831F-E6E2-E5E7D213E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3135C-41EB-6B92-E363-DE1162F42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5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AED7-90BE-6D53-6E8C-F99069E6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B0BEF-2F74-5C11-81EA-67534DAD1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36DCE-18EC-C8EA-A5A6-FE424333A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13FC-93E4-7E99-7C1B-BDB1C80BE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278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DS 207 Final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E7D111-4B77-DDCE-24B3-2BF375991F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40329"/>
          <a:stretch>
            <a:fillRect/>
          </a:stretch>
        </p:blipFill>
        <p:spPr>
          <a:xfrm>
            <a:off x="914399" y="2011363"/>
            <a:ext cx="7273638" cy="4155757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B3911-B218-9FE2-3E18-E1AF7A6F8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3" name="AutoShape 2" descr="Tennis Data Analysis Enhance Your Game with Tennis Analytics">
            <a:extLst>
              <a:ext uri="{FF2B5EF4-FFF2-40B4-BE49-F238E27FC236}">
                <a16:creationId xmlns:a16="http://schemas.microsoft.com/office/drawing/2014/main" id="{1ACE5827-364F-4D89-7714-76089AF968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8044" y="3276600"/>
            <a:ext cx="2210356" cy="221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/>
          <a:p>
            <a:r>
              <a:rPr lang="en-GB" dirty="0"/>
              <a:t>Predicting ATP Tennis Match Outcomes with Machine Learning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Rachel Burgess &amp; Georgios Friligkos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GB" dirty="0"/>
              <a:t>Motivation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3AB76-2B3E-8493-87E5-5BCEEA86D1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8" r="5316" b="1"/>
          <a:stretch>
            <a:fillRect/>
          </a:stretch>
        </p:blipFill>
        <p:spPr>
          <a:xfrm>
            <a:off x="914399" y="2022250"/>
            <a:ext cx="3310129" cy="374718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Sports analytics and tennis performance 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Rich dataset with ranking and serve-related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Previous work used Logistic Regression (Friligkos,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Hypothesis: nonlinear models improve prediction accuracy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cap="none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B7AD894-DEDB-27BD-BB5C-FAEC069F9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590872"/>
            <a:ext cx="7273638" cy="4155757"/>
          </a:xfrm>
        </p:spPr>
        <p:txBody>
          <a:bodyPr>
            <a:normAutofit/>
          </a:bodyPr>
          <a:lstStyle/>
          <a:p>
            <a:r>
              <a:rPr lang="en-GB" dirty="0"/>
              <a:t>Source: Jeff Sackmann ATP dataset (50+ years)</a:t>
            </a:r>
          </a:p>
          <a:p>
            <a:r>
              <a:rPr lang="en-GB" dirty="0"/>
              <a:t>70k+ matches → 65k after cleaning</a:t>
            </a:r>
          </a:p>
          <a:p>
            <a:r>
              <a:rPr lang="en-GB" dirty="0"/>
              <a:t>Features: rankings, ages, serve stats, surface, tournament level</a:t>
            </a:r>
          </a:p>
          <a:p>
            <a:r>
              <a:rPr lang="en-GB" dirty="0"/>
              <a:t>Target variable: match winner (1/0)</a:t>
            </a:r>
          </a:p>
          <a:p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49B3-28C1-8479-58B3-57224703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12D2-F135-51AD-80AF-60FDA5BC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Preprocessing AND 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4458-42B2-85C2-70BF-0EDF033C33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864524"/>
            <a:ext cx="7273638" cy="4155757"/>
          </a:xfrm>
        </p:spPr>
        <p:txBody>
          <a:bodyPr>
            <a:normAutofit/>
          </a:bodyPr>
          <a:lstStyle/>
          <a:p>
            <a:r>
              <a:rPr lang="en-GB" dirty="0"/>
              <a:t>Difference features (rank_diff, ace_diff, df_diff, bp_saved_diff)</a:t>
            </a:r>
          </a:p>
          <a:p>
            <a:r>
              <a:rPr lang="en-GB" dirty="0"/>
              <a:t>One-hot encoding for categorical variables</a:t>
            </a:r>
          </a:p>
          <a:p>
            <a:r>
              <a:rPr lang="en-GB" dirty="0"/>
              <a:t>Removed missing rows</a:t>
            </a:r>
          </a:p>
          <a:p>
            <a:r>
              <a:rPr lang="en-GB" dirty="0"/>
              <a:t>Time-based split: Train ≤2015, Val 2016–17, Test ≥2018</a:t>
            </a:r>
          </a:p>
          <a:p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408DD-EC83-5BBD-3647-9F4DB7B7D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43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/>
          <a:p>
            <a:r>
              <a:rPr lang="en-GB" dirty="0"/>
              <a:t>Exploratory Data Analysis(EDA)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Rank difference strongly correlated with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Serve performance metrics are predictive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Surface effects observed (clay vs hard)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Motivates nonlinear modelling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Models Implemented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Baseline: 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Ensemble models: Random Forest, XGBoost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Neural Network (MLP)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Same dataset &amp; split across all models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AA49-CBE1-6388-2A4B-CBBE9000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F153-1D3C-EA9A-44A2-32CC4C8FA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Evaluation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A213-D0F5-B6D8-EAFA-188824FAA5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r>
              <a:rPr lang="en-GB" dirty="0"/>
              <a:t>Accuracy</a:t>
            </a:r>
          </a:p>
          <a:p>
            <a:r>
              <a:rPr lang="en-GB" dirty="0"/>
              <a:t>F1-score</a:t>
            </a:r>
          </a:p>
          <a:p>
            <a:r>
              <a:rPr lang="en-GB" dirty="0"/>
              <a:t>ROC-AUC</a:t>
            </a:r>
          </a:p>
          <a:p>
            <a:r>
              <a:rPr lang="en-GB" dirty="0"/>
              <a:t>Consistent evaluation with test split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E4875-DD5C-EB1F-141D-056E19E5F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25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/>
          <a:lstStyle/>
          <a:p>
            <a:r>
              <a:rPr lang="en-GB" dirty="0"/>
              <a:t>Results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299013" cy="3914910"/>
          </a:xfrm>
        </p:spPr>
        <p:txBody>
          <a:bodyPr/>
          <a:lstStyle/>
          <a:p>
            <a:r>
              <a:rPr lang="en-GB" dirty="0"/>
              <a:t>XGBoost achieved highest ROC-AUC (0.795)</a:t>
            </a:r>
          </a:p>
          <a:p>
            <a:r>
              <a:rPr lang="en-GB" dirty="0"/>
              <a:t>Random Forest also strong performer</a:t>
            </a:r>
          </a:p>
          <a:p>
            <a:r>
              <a:rPr lang="en-GB" dirty="0"/>
              <a:t>Neural network similar to logistic regression (tabular data)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2EE5D6E7-8306-54E8-220A-099D3B755FFE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654203206"/>
              </p:ext>
            </p:extLst>
          </p:nvPr>
        </p:nvGraphicFramePr>
        <p:xfrm>
          <a:off x="4602163" y="2017713"/>
          <a:ext cx="6675294" cy="392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72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785097"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 dirty="0">
                          <a:effectLst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0.717000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0.715000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0.780000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 dirty="0">
                          <a:effectLst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0.724367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0.723982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0.793062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 dirty="0">
                          <a:effectLst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0.724434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0.723846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0.795331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 dirty="0">
                          <a:effectLst/>
                        </a:rPr>
                        <a:t>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0.710147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0.710012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400" dirty="0">
                          <a:effectLst/>
                        </a:rPr>
                        <a:t>0.776142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03015-0E17-26F0-35E4-911541BA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682E-3BEB-17D7-3B62-5B2A8086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dirty="0"/>
              <a:t>ROC Curve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E0BC-6BFE-636A-D987-959BAF822A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Ensemble models outperform logistic regression</a:t>
            </a:r>
          </a:p>
          <a:p>
            <a:r>
              <a:rPr lang="en-GB" b="0" dirty="0"/>
              <a:t>XGBoost provides best discrimination across thresholds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DF5AD-1DB2-1848-DF4E-2ADFE0CA6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55060-9ABF-1E70-26DF-24DFE0519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934" y="2018120"/>
            <a:ext cx="4996240" cy="37471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195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F540-4085-0176-FAB4-D7177504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667C-9F27-800D-BEE0-0515C9E3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anchor="ctr">
            <a:normAutofit/>
          </a:bodyPr>
          <a:lstStyle/>
          <a:p>
            <a:r>
              <a:rPr lang="en-GB" dirty="0"/>
              <a:t>Feature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FD01-9C45-89A0-7CAF-590B1B2B69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/>
          <a:p>
            <a:r>
              <a:rPr lang="en-GB" b="0" dirty="0"/>
              <a:t>Top predictors: rank_diff, ace_diff, bp_saved_diff</a:t>
            </a:r>
          </a:p>
          <a:p>
            <a:r>
              <a:rPr lang="en-GB" b="0" dirty="0"/>
              <a:t>Serve performance is crucial for match outcomes</a:t>
            </a:r>
          </a:p>
          <a:p>
            <a:r>
              <a:rPr lang="en-GB" b="0" dirty="0"/>
              <a:t>Aligned with tennis intuition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0D527-F675-F9B2-F042-031013B9F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870" y="2018120"/>
            <a:ext cx="5296368" cy="374718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650E8-EAAD-A2EB-A31D-08115BF8A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6DE1-17CC-622A-2D76-5CF558D6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646A-4D7F-E29F-BF81-E8C4EDCB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GB" dirty="0"/>
              <a:t>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D110-8611-7A4E-E093-E7FFF805A5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r>
              <a:rPr lang="en-GB" dirty="0"/>
              <a:t>Nonlinear models outperform linear baseline</a:t>
            </a:r>
          </a:p>
          <a:p>
            <a:r>
              <a:rPr lang="en-GB" dirty="0"/>
              <a:t>XGBoost provides best performance</a:t>
            </a:r>
          </a:p>
          <a:p>
            <a:r>
              <a:rPr lang="en-GB" dirty="0"/>
              <a:t>Serve metrics + ranking differences are key drivers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4A88-F615-3A92-4B44-CF18C5F42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20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42B9-C460-4F4F-7510-1B90A727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B2238-AE1F-F548-6FAB-3D221D32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/>
          <a:p>
            <a:r>
              <a:rPr lang="en-GB" dirty="0"/>
              <a:t>Future Work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E08F87B-982F-03C3-3ADD-A70A2F8088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Include player recent form (rolling averages)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Head-to-head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Surface-specific strengths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Point-by-point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Incorporation of NLP-based features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4D45B-29F0-2406-E3D6-7FD3D6878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2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2981280" y="2011363"/>
            <a:ext cx="3139875" cy="4155757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0CDF736-5177-EA9C-B1F2-112AA2F6B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4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9E6DF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360</Words>
  <Application>Microsoft Office PowerPoint</Application>
  <PresentationFormat>Widescreen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Custom</vt:lpstr>
      <vt:lpstr>DS 207 Final Project</vt:lpstr>
      <vt:lpstr>Predicting ATP Tennis Match Outcomes with Machine Learning</vt:lpstr>
      <vt:lpstr>Motivation </vt:lpstr>
      <vt:lpstr>Dataset</vt:lpstr>
      <vt:lpstr>Preprocessing AND FEATURE ENGINEERING</vt:lpstr>
      <vt:lpstr>Exploratory Data Analysis(EDA)</vt:lpstr>
      <vt:lpstr>Models Implemented</vt:lpstr>
      <vt:lpstr>Evaluation Metrics</vt:lpstr>
      <vt:lpstr>Results Summary</vt:lpstr>
      <vt:lpstr>ROC Curve Comparison</vt:lpstr>
      <vt:lpstr>Feature Importance</vt:lpstr>
      <vt:lpstr>Conclusions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GEORGIOS FRILIGKOS</dc:creator>
  <cp:lastModifiedBy>GEORGIOS FRILIGKOS</cp:lastModifiedBy>
  <cp:revision>12</cp:revision>
  <dcterms:created xsi:type="dcterms:W3CDTF">2025-12-07T15:18:31Z</dcterms:created>
  <dcterms:modified xsi:type="dcterms:W3CDTF">2025-12-07T16:15:07Z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
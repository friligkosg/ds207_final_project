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9"/>
  </p:notesMasterIdLst>
  <p:handoutMasterIdLst>
    <p:handoutMasterId r:id="rId20"/>
  </p:handoutMasterIdLst>
  <p:sldIdLst>
    <p:sldId id="314" r:id="rId5"/>
    <p:sldId id="315" r:id="rId6"/>
    <p:sldId id="318" r:id="rId7"/>
    <p:sldId id="320" r:id="rId8"/>
    <p:sldId id="326" r:id="rId9"/>
    <p:sldId id="321" r:id="rId10"/>
    <p:sldId id="324" r:id="rId11"/>
    <p:sldId id="327" r:id="rId12"/>
    <p:sldId id="323" r:id="rId13"/>
    <p:sldId id="328" r:id="rId14"/>
    <p:sldId id="329" r:id="rId15"/>
    <p:sldId id="330" r:id="rId16"/>
    <p:sldId id="331" r:id="rId17"/>
    <p:sldId id="30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5388" autoAdjust="0"/>
  </p:normalViewPr>
  <p:slideViewPr>
    <p:cSldViewPr snapToGrid="0">
      <p:cViewPr varScale="1">
        <p:scale>
          <a:sx n="143" d="100"/>
          <a:sy n="143" d="100"/>
        </p:scale>
        <p:origin x="906" y="342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12/7/2025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4A19-62EF-B409-C376-9D46C00B7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D8117-7ED4-9DBB-9115-78DBD9E4E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63A04-0BB6-D64E-899E-54397A27D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9D680-0CD0-3E94-9207-D33112BBE7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27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238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DA4DC-3161-E1FF-DE4B-6EF12FAA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EC16F6-9788-A3DD-FB3E-FE4C5542D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9BEB9-18D2-EF42-A7C7-F5CB19F7E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09528-5CDF-B55E-6CC9-863F6497B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540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0108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9E103-1022-A698-93B6-9EE95741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DDE9A-14FF-9EFB-A88B-C86A523E0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951090-CC44-0FF4-180C-1E53D211E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4CACC-A624-BA29-5ECB-6057F8DA6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854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38365-ABB4-E9F0-587E-272238291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5AEA2-872C-7429-56DF-71AD91A0F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B15EB-0BF2-CA93-5D47-E02497434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D855D-B7CF-85E1-1AD1-D8BDF301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232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008D4-4FBC-D654-AF98-FBC400DD8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24413-D847-2BFA-FB82-FD1AE26B0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2CEF1-CE0A-831F-E6E2-E5E7D213E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3135C-41EB-6B92-E363-DE1162F427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955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AAED7-90BE-6D53-6E8C-F99069E6B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B0BEF-2F74-5C11-81EA-67534DAD1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36DCE-18EC-C8EA-A5A6-FE424333A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613FC-93E4-7E99-7C1B-BDB1C80BE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3278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DS 207 Final Project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E7D111-4B77-DDCE-24B3-2BF375991F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40329"/>
          <a:stretch>
            <a:fillRect/>
          </a:stretch>
        </p:blipFill>
        <p:spPr>
          <a:xfrm>
            <a:off x="914399" y="2011363"/>
            <a:ext cx="7273638" cy="4155757"/>
          </a:xfrm>
          <a:prstGeom prst="rect">
            <a:avLst/>
          </a:prstGeom>
          <a:noFill/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6A5B3911-B218-9FE2-3E18-E1AF7A6F82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  <p:sp>
        <p:nvSpPr>
          <p:cNvPr id="3" name="AutoShape 2" descr="Tennis Data Analysis Enhance Your Game with Tennis Analytics">
            <a:extLst>
              <a:ext uri="{FF2B5EF4-FFF2-40B4-BE49-F238E27FC236}">
                <a16:creationId xmlns:a16="http://schemas.microsoft.com/office/drawing/2014/main" id="{1ACE5827-364F-4D89-7714-76089AF968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38044" y="3276600"/>
            <a:ext cx="2210356" cy="2210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Predicting ATP Tennis Match Outcomes with Machine Learning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1E08-E337-110E-DB8E-41BA4A3341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Rachel Burgess &amp; Georgios Friligkos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anchor="ctr">
            <a:normAutofit/>
          </a:bodyPr>
          <a:lstStyle/>
          <a:p>
            <a:r>
              <a:rPr lang="en-GB" dirty="0"/>
              <a:t>Motivation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3AB76-2B3E-8493-87E5-5BCEEA86D1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48" r="5316" b="1"/>
          <a:stretch>
            <a:fillRect/>
          </a:stretch>
        </p:blipFill>
        <p:spPr>
          <a:xfrm>
            <a:off x="914399" y="2022250"/>
            <a:ext cx="3310129" cy="3747180"/>
          </a:xfrm>
          <a:prstGeom prst="rect">
            <a:avLst/>
          </a:prstGeo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Sports analytics and tennis performance modelling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Rich dataset with ranking and serve-related statistics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Previous work used Logistic Regression (Friligkos,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Hypothesis: nonlinear models improve prediction accuracy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cap="none" dirty="0"/>
          </a:p>
        </p:txBody>
      </p:sp>
      <p:sp>
        <p:nvSpPr>
          <p:cNvPr id="12" name="Slide Number Placeholder 4">
            <a:extLst>
              <a:ext uri="{FF2B5EF4-FFF2-40B4-BE49-F238E27FC236}">
                <a16:creationId xmlns:a16="http://schemas.microsoft.com/office/drawing/2014/main" id="{5B7AD894-DEDB-27BD-BB5C-FAEC069F9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8" y="1590872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Source: Jeff Sackmann ATP dataset (50+ years)</a:t>
            </a:r>
          </a:p>
          <a:p>
            <a:r>
              <a:rPr lang="en-GB" dirty="0"/>
              <a:t>70k+ matches → 65k after cleaning</a:t>
            </a:r>
          </a:p>
          <a:p>
            <a:r>
              <a:rPr lang="en-GB" dirty="0"/>
              <a:t>Features: rankings, ages, serve stats, surface, tournament level</a:t>
            </a:r>
          </a:p>
          <a:p>
            <a:r>
              <a:rPr lang="en-GB" dirty="0"/>
              <a:t>Target variable: match winner (1/0)</a:t>
            </a:r>
          </a:p>
          <a:p>
            <a:endParaRPr lang="en-US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E49B3-28C1-8479-58B3-572247035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A12D2-F135-51AD-80AF-60FDA5BC6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Preprocessing AND FEATURE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C4458-42B2-85C2-70BF-0EDF033C33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1864524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Difference features (rank_diff, ace_diff, df_diff, bp_saved_diff)</a:t>
            </a:r>
          </a:p>
          <a:p>
            <a:r>
              <a:rPr lang="en-GB" dirty="0"/>
              <a:t>One-hot encoding for categorical variables</a:t>
            </a:r>
          </a:p>
          <a:p>
            <a:r>
              <a:rPr lang="en-GB" dirty="0"/>
              <a:t>Removed missing rows</a:t>
            </a:r>
          </a:p>
          <a:p>
            <a:r>
              <a:rPr lang="en-GB" dirty="0"/>
              <a:t>Time-based split: Train ≤2015, Val 2016–17, Test ≥2018</a:t>
            </a:r>
          </a:p>
          <a:p>
            <a:endParaRPr lang="en-US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408DD-EC83-5BBD-3647-9F4DB7B7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433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Exploratory Data Analysis(EDA)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01C2F4A-ABC8-39B2-B7BB-36C02B7A454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Rank difference strongly correlated with outcomes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Serve performance metrics are predictive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Surface effects observed (clay vs hard)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Motivates nonlinear modelling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6DBB-D0DC-05D4-788C-E10EEF6B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Models Implemented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41F64-E350-1F21-8A57-E740F48F313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Baseline: Logistic Regression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Ensemble models: Random Forest, XGBoost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Neural Network (MLP)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Same dataset &amp; split across all models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D2502-F7A7-039F-01A0-59462ADFF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406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AA49-CBE1-6388-2A4B-CBBE9000E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F153-1D3C-EA9A-44A2-32CC4C8FA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Evaluation Metrics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4A213-D0F5-B6D8-EAFA-188824FAA5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Accuracy</a:t>
            </a:r>
          </a:p>
          <a:p>
            <a:r>
              <a:rPr lang="en-GB" dirty="0"/>
              <a:t>F1-score</a:t>
            </a:r>
          </a:p>
          <a:p>
            <a:r>
              <a:rPr lang="en-GB" dirty="0"/>
              <a:t>ROC-AUC</a:t>
            </a:r>
          </a:p>
          <a:p>
            <a:r>
              <a:rPr lang="en-GB" dirty="0"/>
              <a:t>Consistent evaluation with test split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E4875-DD5C-EB1F-141D-056E19E5F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256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2B2F-534F-A196-1186-33D282CE3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2" cy="1603462"/>
          </a:xfrm>
        </p:spPr>
        <p:txBody>
          <a:bodyPr/>
          <a:lstStyle/>
          <a:p>
            <a:r>
              <a:rPr lang="en-GB" dirty="0"/>
              <a:t>Results 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1586-1388-197C-1294-83D4DD8529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299013" cy="3914910"/>
          </a:xfrm>
        </p:spPr>
        <p:txBody>
          <a:bodyPr/>
          <a:lstStyle/>
          <a:p>
            <a:r>
              <a:rPr lang="en-GB" dirty="0"/>
              <a:t>XGBoost achieved highest ROC-AUC (0.795)</a:t>
            </a:r>
          </a:p>
          <a:p>
            <a:r>
              <a:rPr lang="en-GB" dirty="0"/>
              <a:t>Random Forest also strong performer</a:t>
            </a:r>
          </a:p>
          <a:p>
            <a:r>
              <a:rPr lang="en-GB" dirty="0"/>
              <a:t>Neural network similar to logistic regression (tabular data)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2EE5D6E7-8306-54E8-220A-099D3B755FFE}"/>
              </a:ext>
            </a:extLst>
          </p:cNvPr>
          <p:cNvGraphicFramePr>
            <a:graphicFrameLocks noGrp="1"/>
          </p:cNvGraphicFramePr>
          <p:nvPr>
            <p:ph type="tbl" sz="quarter" idx="11"/>
            <p:extLst>
              <p:ext uri="{D42A27DB-BD31-4B8C-83A1-F6EECF244321}">
                <p14:modId xmlns:p14="http://schemas.microsoft.com/office/powerpoint/2010/main" val="654203206"/>
              </p:ext>
            </p:extLst>
          </p:nvPr>
        </p:nvGraphicFramePr>
        <p:xfrm>
          <a:off x="4602163" y="2017713"/>
          <a:ext cx="6675294" cy="392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272">
                  <a:extLst>
                    <a:ext uri="{9D8B030D-6E8A-4147-A177-3AD203B41FA5}">
                      <a16:colId xmlns:a16="http://schemas.microsoft.com/office/drawing/2014/main" val="3233966979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158840958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014947327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2653728004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4218738779"/>
                    </a:ext>
                  </a:extLst>
                </a:gridCol>
              </a:tblGrid>
              <a:tr h="785097">
                <a:tc>
                  <a:txBody>
                    <a:bodyPr/>
                    <a:lstStyle/>
                    <a:p>
                      <a:pPr algn="l"/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Accuracy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F1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ROC-AUC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213590700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Logistic Regression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0.717000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0.715000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0.780000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746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0.724367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0.723982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0.793062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7333721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0.724434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0.723846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0.795331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1589815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Neural Network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0.710012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CH" sz="1400" dirty="0">
                          <a:effectLst/>
                        </a:rPr>
                        <a:t>0.776142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832805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6EF25-1A43-B685-800B-85D36602E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261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303015-0E17-26F0-35E4-911541BAE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4682E-3BEB-17D7-3B62-5B2A80865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GB" dirty="0"/>
              <a:t>ROC Curve Comparison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0E0BC-6BFE-636A-D987-959BAF822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GB" b="0" dirty="0"/>
              <a:t>Ensemble models outperform logistic regression</a:t>
            </a:r>
          </a:p>
          <a:p>
            <a:r>
              <a:rPr lang="en-GB" b="0" dirty="0"/>
              <a:t>XGBoost provides best discrimination across thresholds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5DF5AD-1DB2-1848-DF4E-2ADFE0CA6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55060-9ABF-1E70-26DF-24DFE0519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9934" y="2018120"/>
            <a:ext cx="4996240" cy="37471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19565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0F540-4085-0176-FAB4-D7177504C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667C-9F27-800D-BEE0-0515C9E38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 anchor="ctr">
            <a:normAutofit/>
          </a:bodyPr>
          <a:lstStyle/>
          <a:p>
            <a:r>
              <a:rPr lang="en-GB" dirty="0"/>
              <a:t>Feature Importance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EFD01-9C45-89A0-7CAF-590B1B2B69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/>
          <a:p>
            <a:r>
              <a:rPr lang="en-GB" b="0" dirty="0"/>
              <a:t>Top predictors: rank_diff, ace_diff, </a:t>
            </a:r>
            <a:r>
              <a:rPr lang="en-GB" b="0" dirty="0" err="1"/>
              <a:t>bp_saved_diff</a:t>
            </a:r>
            <a:r>
              <a:rPr lang="en-GB" b="0" dirty="0"/>
              <a:t>, </a:t>
            </a:r>
            <a:r>
              <a:rPr lang="en-GB" b="0" dirty="0" err="1"/>
              <a:t>df_diff</a:t>
            </a:r>
            <a:endParaRPr lang="en-GB" b="0" dirty="0"/>
          </a:p>
          <a:p>
            <a:r>
              <a:rPr lang="en-GB" b="0" dirty="0"/>
              <a:t>Serve performance is crucial for match outcomes</a:t>
            </a:r>
          </a:p>
          <a:p>
            <a:r>
              <a:rPr lang="en-GB" b="0" dirty="0"/>
              <a:t>Aligned with tennis intuition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00D527-F675-F9B2-F042-031013B9F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870" y="2018120"/>
            <a:ext cx="5296368" cy="3747180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650E8-EAAD-A2EB-A31D-08115BF8A1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458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6DE1-17CC-622A-2D76-5CF558D69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646A-4D7F-E29F-BF81-E8C4EDCB8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GB" dirty="0"/>
              <a:t>Conclusions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D110-8611-7A4E-E093-E7FFF805A5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/>
          <a:p>
            <a:r>
              <a:rPr lang="en-GB" dirty="0"/>
              <a:t>Nonlinear models outperform linear baseline</a:t>
            </a:r>
          </a:p>
          <a:p>
            <a:r>
              <a:rPr lang="en-GB" dirty="0"/>
              <a:t>XGBoost provides best performance</a:t>
            </a:r>
          </a:p>
          <a:p>
            <a:r>
              <a:rPr lang="en-GB" dirty="0"/>
              <a:t>Serve metrics + ranking differences are key drivers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74A88-F615-3A92-4B44-CF18C5F42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201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42B9-C460-4F4F-7510-1B90A7279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B2238-AE1F-F548-6FAB-3D221D321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/>
          <a:p>
            <a:r>
              <a:rPr lang="en-GB" dirty="0"/>
              <a:t>Future Work</a:t>
            </a:r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E08F87B-982F-03C3-3ADD-A70A2F80885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Include player recent form (rolling averages)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Head-to-head history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Surface-specific strengths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Point-by-point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Incorporation of NLP-based features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F4D45B-29F0-2406-E3D6-7FD3D6878C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02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7273637" cy="1646555"/>
          </a:xfrm>
        </p:spPr>
        <p:txBody>
          <a:bodyPr anchor="ctr">
            <a:normAutofit/>
          </a:bodyPr>
          <a:lstStyle/>
          <a:p>
            <a:r>
              <a:rPr lang="en-US" dirty="0"/>
              <a:t>Thank you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2981280" y="2011363"/>
            <a:ext cx="3139875" cy="4155757"/>
          </a:xfrm>
          <a:prstGeom prst="rect">
            <a:avLst/>
          </a:prstGeom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A0CDF736-5177-EA9C-B1F2-112AA2F6B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149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E9E6DF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Words>364</Words>
  <Application>Microsoft Office PowerPoint</Application>
  <PresentationFormat>Widescreen</PresentationFormat>
  <Paragraphs>108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Tenorite</vt:lpstr>
      <vt:lpstr>Custom</vt:lpstr>
      <vt:lpstr>DS 207 Final Project</vt:lpstr>
      <vt:lpstr>Predicting ATP Tennis Match Outcomes with Machine Learning</vt:lpstr>
      <vt:lpstr>Motivation </vt:lpstr>
      <vt:lpstr>Dataset</vt:lpstr>
      <vt:lpstr>Preprocessing AND FEATURE ENGINEERING</vt:lpstr>
      <vt:lpstr>Exploratory Data Analysis(EDA)</vt:lpstr>
      <vt:lpstr>Models Implemented</vt:lpstr>
      <vt:lpstr>Evaluation Metrics</vt:lpstr>
      <vt:lpstr>Results Summary</vt:lpstr>
      <vt:lpstr>ROC Curve Comparison</vt:lpstr>
      <vt:lpstr>Feature Importance</vt:lpstr>
      <vt:lpstr>Conclusions</vt:lpstr>
      <vt:lpstr>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GEORGIOS FRILIGKOS</dc:creator>
  <cp:lastModifiedBy>GEORGIOS FRILIGKOS</cp:lastModifiedBy>
  <cp:revision>13</cp:revision>
  <dcterms:created xsi:type="dcterms:W3CDTF">2025-12-07T15:18:31Z</dcterms:created>
  <dcterms:modified xsi:type="dcterms:W3CDTF">2025-12-07T16:48:28Z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